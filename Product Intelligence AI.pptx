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Shape 9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3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56;p13" descr="Google Shape;56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Google Shape;57;p13"/>
          <p:cNvSpPr txBox="1"/>
          <p:nvPr/>
        </p:nvSpPr>
        <p:spPr>
          <a:xfrm>
            <a:off x="6280189" y="2615089"/>
            <a:ext cx="6144936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Product Intelligence AI</a:t>
            </a:r>
          </a:p>
        </p:txBody>
      </p:sp>
      <p:sp>
        <p:nvSpPr>
          <p:cNvPr id="94" name="Google Shape;58;p13"/>
          <p:cNvSpPr txBox="1"/>
          <p:nvPr/>
        </p:nvSpPr>
        <p:spPr>
          <a:xfrm>
            <a:off x="6280189" y="3414593"/>
            <a:ext cx="7556422" cy="120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352"/>
              </a:lnSpc>
              <a:defRPr sz="35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Automated Customer Review Analysis System</a:t>
            </a:r>
          </a:p>
        </p:txBody>
      </p:sp>
      <p:sp>
        <p:nvSpPr>
          <p:cNvPr id="95" name="Google Shape;59;p13"/>
          <p:cNvSpPr txBox="1"/>
          <p:nvPr/>
        </p:nvSpPr>
        <p:spPr>
          <a:xfrm>
            <a:off x="6280189" y="4888705"/>
            <a:ext cx="7556422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Turning unstructured customer reviews into actionable insights using NLP and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65;p14" descr="Google Shape;65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Google Shape;66;p14"/>
          <p:cNvSpPr txBox="1"/>
          <p:nvPr/>
        </p:nvSpPr>
        <p:spPr>
          <a:xfrm>
            <a:off x="793790" y="767239"/>
            <a:ext cx="567059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The Challenge</a:t>
            </a:r>
          </a:p>
        </p:txBody>
      </p:sp>
      <p:sp>
        <p:nvSpPr>
          <p:cNvPr id="99" name="Google Shape;67;p14"/>
          <p:cNvSpPr/>
          <p:nvPr/>
        </p:nvSpPr>
        <p:spPr>
          <a:xfrm>
            <a:off x="793790" y="1816179"/>
            <a:ext cx="7556421" cy="1730813"/>
          </a:xfrm>
          <a:prstGeom prst="roundRect">
            <a:avLst>
              <a:gd name="adj" fmla="val 8453"/>
            </a:avLst>
          </a:prstGeom>
          <a:solidFill>
            <a:srgbClr val="202733"/>
          </a:solidFill>
          <a:ln w="30475">
            <a:solidFill>
              <a:srgbClr val="585F6B"/>
            </a:solidFill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00" name="Google Shape;68;p14" descr="Google Shape;68;p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3309" y="1816179"/>
            <a:ext cx="121922" cy="1730813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Google Shape;69;p14"/>
          <p:cNvSpPr txBox="1"/>
          <p:nvPr/>
        </p:nvSpPr>
        <p:spPr>
          <a:xfrm>
            <a:off x="1142523" y="2073473"/>
            <a:ext cx="283523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Volume Overload</a:t>
            </a:r>
          </a:p>
        </p:txBody>
      </p:sp>
      <p:sp>
        <p:nvSpPr>
          <p:cNvPr id="102" name="Google Shape;70;p14"/>
          <p:cNvSpPr txBox="1"/>
          <p:nvPr/>
        </p:nvSpPr>
        <p:spPr>
          <a:xfrm>
            <a:off x="1142524" y="2563891"/>
            <a:ext cx="6950393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Thousands of reviews across Reddit, YouTube, and HackerNews make manual analysis impossible</a:t>
            </a:r>
          </a:p>
        </p:txBody>
      </p:sp>
      <p:sp>
        <p:nvSpPr>
          <p:cNvPr id="103" name="Google Shape;71;p14"/>
          <p:cNvSpPr/>
          <p:nvPr/>
        </p:nvSpPr>
        <p:spPr>
          <a:xfrm>
            <a:off x="793790" y="3773804"/>
            <a:ext cx="7556421" cy="1730813"/>
          </a:xfrm>
          <a:prstGeom prst="roundRect">
            <a:avLst>
              <a:gd name="adj" fmla="val 8453"/>
            </a:avLst>
          </a:prstGeom>
          <a:solidFill>
            <a:srgbClr val="202733"/>
          </a:solidFill>
          <a:ln w="30475">
            <a:solidFill>
              <a:srgbClr val="585F6B"/>
            </a:solidFill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04" name="Google Shape;72;p14" descr="Google Shape;72;p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3309" y="3773804"/>
            <a:ext cx="121922" cy="1730813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Google Shape;73;p14"/>
          <p:cNvSpPr txBox="1"/>
          <p:nvPr/>
        </p:nvSpPr>
        <p:spPr>
          <a:xfrm>
            <a:off x="1142523" y="4031098"/>
            <a:ext cx="283523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Slow Processing</a:t>
            </a:r>
          </a:p>
        </p:txBody>
      </p:sp>
      <p:sp>
        <p:nvSpPr>
          <p:cNvPr id="106" name="Google Shape;74;p14"/>
          <p:cNvSpPr txBox="1"/>
          <p:nvPr/>
        </p:nvSpPr>
        <p:spPr>
          <a:xfrm>
            <a:off x="1142524" y="4521517"/>
            <a:ext cx="695039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Manual review takes days or weeks, delaying critical product decisions</a:t>
            </a:r>
          </a:p>
        </p:txBody>
      </p:sp>
      <p:sp>
        <p:nvSpPr>
          <p:cNvPr id="107" name="Google Shape;75;p14"/>
          <p:cNvSpPr/>
          <p:nvPr/>
        </p:nvSpPr>
        <p:spPr>
          <a:xfrm>
            <a:off x="793790" y="5731431"/>
            <a:ext cx="7556421" cy="1730813"/>
          </a:xfrm>
          <a:prstGeom prst="roundRect">
            <a:avLst>
              <a:gd name="adj" fmla="val 8453"/>
            </a:avLst>
          </a:prstGeom>
          <a:solidFill>
            <a:srgbClr val="202733"/>
          </a:solidFill>
          <a:ln w="30475">
            <a:solidFill>
              <a:srgbClr val="585F6B"/>
            </a:solidFill>
          </a:ln>
        </p:spPr>
        <p:txBody>
          <a:bodyPr lIns="0" tIns="0" rIns="0" bIns="0" anchor="ctr"/>
          <a:lstStyle/>
          <a:p>
            <a:pPr/>
          </a:p>
        </p:txBody>
      </p:sp>
      <p:pic>
        <p:nvPicPr>
          <p:cNvPr id="108" name="Google Shape;76;p14" descr="Google Shape;76;p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3309" y="5731431"/>
            <a:ext cx="121922" cy="1730813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Google Shape;77;p14"/>
          <p:cNvSpPr txBox="1"/>
          <p:nvPr/>
        </p:nvSpPr>
        <p:spPr>
          <a:xfrm>
            <a:off x="1142523" y="5988725"/>
            <a:ext cx="283523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Unscalable</a:t>
            </a:r>
          </a:p>
        </p:txBody>
      </p:sp>
      <p:sp>
        <p:nvSpPr>
          <p:cNvPr id="110" name="Google Shape;78;p14"/>
          <p:cNvSpPr txBox="1"/>
          <p:nvPr/>
        </p:nvSpPr>
        <p:spPr>
          <a:xfrm>
            <a:off x="1142524" y="6479142"/>
            <a:ext cx="6950393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As customer base grows, traditional methods cannot keep pace with data volume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84;p15" descr="Google Shape;84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Google Shape;85;p15"/>
          <p:cNvSpPr txBox="1"/>
          <p:nvPr/>
        </p:nvSpPr>
        <p:spPr>
          <a:xfrm>
            <a:off x="6129099" y="731876"/>
            <a:ext cx="4590932" cy="54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6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Intelligent Solution</a:t>
            </a:r>
          </a:p>
        </p:txBody>
      </p:sp>
      <p:sp>
        <p:nvSpPr>
          <p:cNvPr id="114" name="Google Shape;86;p15"/>
          <p:cNvSpPr txBox="1"/>
          <p:nvPr/>
        </p:nvSpPr>
        <p:spPr>
          <a:xfrm>
            <a:off x="6129099" y="1528762"/>
            <a:ext cx="7858602" cy="532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An automated system that transforms unstructured customer feedback into strategic product intelligence</a:t>
            </a:r>
          </a:p>
        </p:txBody>
      </p:sp>
      <p:sp>
        <p:nvSpPr>
          <p:cNvPr id="115" name="Google Shape;87;p15"/>
          <p:cNvSpPr txBox="1"/>
          <p:nvPr/>
        </p:nvSpPr>
        <p:spPr>
          <a:xfrm>
            <a:off x="6129099" y="2227421"/>
            <a:ext cx="2922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01</a:t>
            </a:r>
          </a:p>
        </p:txBody>
      </p:sp>
      <p:pic>
        <p:nvPicPr>
          <p:cNvPr id="116" name="Google Shape;88;p15" descr="Google Shape;88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9099" y="2516504"/>
            <a:ext cx="7858602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Google Shape;89;p15"/>
          <p:cNvSpPr txBox="1"/>
          <p:nvPr/>
        </p:nvSpPr>
        <p:spPr>
          <a:xfrm>
            <a:off x="6129099" y="2597031"/>
            <a:ext cx="22954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8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Collect</a:t>
            </a:r>
          </a:p>
        </p:txBody>
      </p:sp>
      <p:sp>
        <p:nvSpPr>
          <p:cNvPr id="118" name="Google Shape;90;p15"/>
          <p:cNvSpPr txBox="1"/>
          <p:nvPr/>
        </p:nvSpPr>
        <p:spPr>
          <a:xfrm>
            <a:off x="6129099" y="3030141"/>
            <a:ext cx="78586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Aggregate reviews from multiple platforms automatically</a:t>
            </a:r>
          </a:p>
        </p:txBody>
      </p:sp>
      <p:sp>
        <p:nvSpPr>
          <p:cNvPr id="119" name="Google Shape;91;p15"/>
          <p:cNvSpPr txBox="1"/>
          <p:nvPr/>
        </p:nvSpPr>
        <p:spPr>
          <a:xfrm>
            <a:off x="6129099" y="3582113"/>
            <a:ext cx="2922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02</a:t>
            </a:r>
          </a:p>
        </p:txBody>
      </p:sp>
      <p:pic>
        <p:nvPicPr>
          <p:cNvPr id="120" name="Google Shape;92;p15" descr="Google Shape;92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9099" y="3852862"/>
            <a:ext cx="7858602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Google Shape;93;p15"/>
          <p:cNvSpPr txBox="1"/>
          <p:nvPr/>
        </p:nvSpPr>
        <p:spPr>
          <a:xfrm>
            <a:off x="6129099" y="3951724"/>
            <a:ext cx="22954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8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Analyze</a:t>
            </a:r>
          </a:p>
        </p:txBody>
      </p:sp>
      <p:sp>
        <p:nvSpPr>
          <p:cNvPr id="122" name="Google Shape;94;p15"/>
          <p:cNvSpPr txBox="1"/>
          <p:nvPr/>
        </p:nvSpPr>
        <p:spPr>
          <a:xfrm>
            <a:off x="6129099" y="4384833"/>
            <a:ext cx="78586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Detect sentiment and extract key topics instantly</a:t>
            </a:r>
          </a:p>
        </p:txBody>
      </p:sp>
      <p:sp>
        <p:nvSpPr>
          <p:cNvPr id="123" name="Google Shape;95;p15"/>
          <p:cNvSpPr txBox="1"/>
          <p:nvPr/>
        </p:nvSpPr>
        <p:spPr>
          <a:xfrm>
            <a:off x="6129099" y="4936807"/>
            <a:ext cx="2922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03</a:t>
            </a:r>
          </a:p>
        </p:txBody>
      </p:sp>
      <p:pic>
        <p:nvPicPr>
          <p:cNvPr id="124" name="Google Shape;96;p15" descr="Google Shape;96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9099" y="5189220"/>
            <a:ext cx="7858602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Google Shape;97;p15"/>
          <p:cNvSpPr txBox="1"/>
          <p:nvPr/>
        </p:nvSpPr>
        <p:spPr>
          <a:xfrm>
            <a:off x="6129099" y="5306416"/>
            <a:ext cx="22954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8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Generate</a:t>
            </a:r>
          </a:p>
        </p:txBody>
      </p:sp>
      <p:sp>
        <p:nvSpPr>
          <p:cNvPr id="126" name="Google Shape;98;p15"/>
          <p:cNvSpPr txBox="1"/>
          <p:nvPr/>
        </p:nvSpPr>
        <p:spPr>
          <a:xfrm>
            <a:off x="6129099" y="5739527"/>
            <a:ext cx="78586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Produce AI-driven insights and recommendations</a:t>
            </a:r>
          </a:p>
        </p:txBody>
      </p:sp>
      <p:sp>
        <p:nvSpPr>
          <p:cNvPr id="127" name="Google Shape;99;p15"/>
          <p:cNvSpPr txBox="1"/>
          <p:nvPr/>
        </p:nvSpPr>
        <p:spPr>
          <a:xfrm>
            <a:off x="6129099" y="6291500"/>
            <a:ext cx="29225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04</a:t>
            </a:r>
          </a:p>
        </p:txBody>
      </p:sp>
      <p:pic>
        <p:nvPicPr>
          <p:cNvPr id="128" name="Google Shape;100;p15" descr="Google Shape;100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9099" y="6525577"/>
            <a:ext cx="7858602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Google Shape;101;p15"/>
          <p:cNvSpPr txBox="1"/>
          <p:nvPr/>
        </p:nvSpPr>
        <p:spPr>
          <a:xfrm>
            <a:off x="6129099" y="6661109"/>
            <a:ext cx="22954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8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Report</a:t>
            </a:r>
          </a:p>
        </p:txBody>
      </p:sp>
      <p:sp>
        <p:nvSpPr>
          <p:cNvPr id="130" name="Google Shape;102;p15"/>
          <p:cNvSpPr txBox="1"/>
          <p:nvPr/>
        </p:nvSpPr>
        <p:spPr>
          <a:xfrm>
            <a:off x="6129099" y="7094219"/>
            <a:ext cx="785860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6428"/>
              </a:lnSpc>
              <a:defRPr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Deliver actionable intelligence to stakeholders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08;p16"/>
          <p:cNvSpPr txBox="1"/>
          <p:nvPr/>
        </p:nvSpPr>
        <p:spPr>
          <a:xfrm>
            <a:off x="1649253" y="480892"/>
            <a:ext cx="410575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32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33" name="Google Shape;109;p16"/>
          <p:cNvSpPr txBox="1"/>
          <p:nvPr/>
        </p:nvSpPr>
        <p:spPr>
          <a:xfrm>
            <a:off x="1649253" y="1231821"/>
            <a:ext cx="1133189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2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A complete pipeline from raw data to strategic insights</a:t>
            </a:r>
          </a:p>
        </p:txBody>
      </p:sp>
      <p:pic>
        <p:nvPicPr>
          <p:cNvPr id="134" name="Google Shape;110;p16" descr="Google Shape;110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37215" y="1591866"/>
            <a:ext cx="7755970" cy="6156841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Google Shape;111;p16"/>
          <p:cNvSpPr txBox="1"/>
          <p:nvPr/>
        </p:nvSpPr>
        <p:spPr>
          <a:xfrm>
            <a:off x="6608081" y="4164605"/>
            <a:ext cx="1393812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End-to-End Data Pipeline</a:t>
            </a:r>
          </a:p>
        </p:txBody>
      </p:sp>
      <p:sp>
        <p:nvSpPr>
          <p:cNvPr id="136" name="Google Shape;112;p16"/>
          <p:cNvSpPr txBox="1"/>
          <p:nvPr/>
        </p:nvSpPr>
        <p:spPr>
          <a:xfrm>
            <a:off x="7979227" y="2218015"/>
            <a:ext cx="20735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Data Sources</a:t>
            </a:r>
          </a:p>
        </p:txBody>
      </p:sp>
      <p:sp>
        <p:nvSpPr>
          <p:cNvPr id="137" name="Google Shape;113;p16"/>
          <p:cNvSpPr txBox="1"/>
          <p:nvPr/>
        </p:nvSpPr>
        <p:spPr>
          <a:xfrm>
            <a:off x="7979227" y="2627377"/>
            <a:ext cx="2073542" cy="497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6250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Reddit, YouTube, HackerNews</a:t>
            </a:r>
          </a:p>
        </p:txBody>
      </p:sp>
      <p:sp>
        <p:nvSpPr>
          <p:cNvPr id="138" name="Google Shape;114;p16"/>
          <p:cNvSpPr txBox="1"/>
          <p:nvPr/>
        </p:nvSpPr>
        <p:spPr>
          <a:xfrm>
            <a:off x="4523032" y="2058661"/>
            <a:ext cx="20735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AI Insight Engine</a:t>
            </a:r>
          </a:p>
        </p:txBody>
      </p:sp>
      <p:sp>
        <p:nvSpPr>
          <p:cNvPr id="139" name="Google Shape;115;p16"/>
          <p:cNvSpPr txBox="1"/>
          <p:nvPr/>
        </p:nvSpPr>
        <p:spPr>
          <a:xfrm>
            <a:off x="4523032" y="2786730"/>
            <a:ext cx="2073542" cy="497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6250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Generate strategic insights</a:t>
            </a:r>
          </a:p>
        </p:txBody>
      </p:sp>
      <p:sp>
        <p:nvSpPr>
          <p:cNvPr id="140" name="Google Shape;116;p16"/>
          <p:cNvSpPr txBox="1"/>
          <p:nvPr/>
        </p:nvSpPr>
        <p:spPr>
          <a:xfrm>
            <a:off x="4523032" y="6104111"/>
            <a:ext cx="20735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Sentiment Analysis</a:t>
            </a:r>
          </a:p>
        </p:txBody>
      </p:sp>
      <p:sp>
        <p:nvSpPr>
          <p:cNvPr id="141" name="Google Shape;117;p16"/>
          <p:cNvSpPr txBox="1"/>
          <p:nvPr/>
        </p:nvSpPr>
        <p:spPr>
          <a:xfrm>
            <a:off x="4523032" y="6832179"/>
            <a:ext cx="2073542" cy="497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6250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Transformer-based model</a:t>
            </a:r>
          </a:p>
        </p:txBody>
      </p:sp>
      <p:sp>
        <p:nvSpPr>
          <p:cNvPr id="142" name="Google Shape;118;p16"/>
          <p:cNvSpPr txBox="1"/>
          <p:nvPr/>
        </p:nvSpPr>
        <p:spPr>
          <a:xfrm>
            <a:off x="7979227" y="6263464"/>
            <a:ext cx="207354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Text Cleaning</a:t>
            </a:r>
          </a:p>
        </p:txBody>
      </p:sp>
      <p:sp>
        <p:nvSpPr>
          <p:cNvPr id="143" name="Google Shape;119;p16"/>
          <p:cNvSpPr txBox="1"/>
          <p:nvPr/>
        </p:nvSpPr>
        <p:spPr>
          <a:xfrm>
            <a:off x="7979227" y="6672826"/>
            <a:ext cx="2073542" cy="497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6250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Normalize and filter text</a:t>
            </a:r>
          </a:p>
        </p:txBody>
      </p:sp>
      <p:sp>
        <p:nvSpPr>
          <p:cNvPr id="144" name="Google Shape;120;p16"/>
          <p:cNvSpPr txBox="1"/>
          <p:nvPr/>
        </p:nvSpPr>
        <p:spPr>
          <a:xfrm>
            <a:off x="8727126" y="4322364"/>
            <a:ext cx="2118869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Web Scrapers</a:t>
            </a:r>
          </a:p>
        </p:txBody>
      </p:sp>
      <p:sp>
        <p:nvSpPr>
          <p:cNvPr id="145" name="Google Shape;121;p16"/>
          <p:cNvSpPr txBox="1"/>
          <p:nvPr/>
        </p:nvSpPr>
        <p:spPr>
          <a:xfrm>
            <a:off x="8727126" y="4731725"/>
            <a:ext cx="2118869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6250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Collect raw content</a:t>
            </a:r>
          </a:p>
        </p:txBody>
      </p:sp>
      <p:sp>
        <p:nvSpPr>
          <p:cNvPr id="146" name="Google Shape;122;p16"/>
          <p:cNvSpPr txBox="1"/>
          <p:nvPr/>
        </p:nvSpPr>
        <p:spPr>
          <a:xfrm>
            <a:off x="3763802" y="4333695"/>
            <a:ext cx="211886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25000"/>
              </a:lnSpc>
              <a:defRPr sz="20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Topic Extraction</a:t>
            </a:r>
          </a:p>
        </p:txBody>
      </p:sp>
      <p:sp>
        <p:nvSpPr>
          <p:cNvPr id="147" name="Google Shape;123;p16"/>
          <p:cNvSpPr txBox="1"/>
          <p:nvPr/>
        </p:nvSpPr>
        <p:spPr>
          <a:xfrm>
            <a:off x="3763802" y="4743057"/>
            <a:ext cx="2118868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06250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TF-IDF driven topics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29;p17"/>
          <p:cNvSpPr txBox="1"/>
          <p:nvPr/>
        </p:nvSpPr>
        <p:spPr>
          <a:xfrm>
            <a:off x="749855" y="589240"/>
            <a:ext cx="535805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42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Data Collection Layer</a:t>
            </a:r>
          </a:p>
        </p:txBody>
      </p:sp>
      <p:pic>
        <p:nvPicPr>
          <p:cNvPr id="150" name="Google Shape;130;p17" descr="Google Shape;130;p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9856" y="1789986"/>
            <a:ext cx="4255890" cy="5674520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Google Shape;131;p17"/>
          <p:cNvSpPr txBox="1"/>
          <p:nvPr/>
        </p:nvSpPr>
        <p:spPr>
          <a:xfrm>
            <a:off x="5536048" y="3337917"/>
            <a:ext cx="326957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3809"/>
              </a:lnSpc>
              <a:defRPr sz="21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Multi-Source Aggregation</a:t>
            </a:r>
          </a:p>
        </p:txBody>
      </p:sp>
      <p:sp>
        <p:nvSpPr>
          <p:cNvPr id="152" name="Google Shape;132;p17"/>
          <p:cNvSpPr txBox="1"/>
          <p:nvPr/>
        </p:nvSpPr>
        <p:spPr>
          <a:xfrm>
            <a:off x="5536048" y="3875127"/>
            <a:ext cx="8351996" cy="1381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57575"/>
              </a:lnSpc>
              <a:buClr>
                <a:srgbClr val="D6E5EF"/>
              </a:buClr>
              <a:buSzPts val="1600"/>
              <a:buFont typeface="Helvetica"/>
              <a:buChar char="•"/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Reddit comments and posts</a:t>
            </a:r>
          </a:p>
          <a:p>
            <a:pPr marL="342900" indent="-342900">
              <a:lnSpc>
                <a:spcPct val="157575"/>
              </a:lnSpc>
              <a:buClr>
                <a:srgbClr val="D6E5EF"/>
              </a:buClr>
              <a:buSzPts val="1600"/>
              <a:buFont typeface="Helvetica"/>
              <a:buChar char="•"/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YouTube comment threads</a:t>
            </a:r>
          </a:p>
          <a:p>
            <a:pPr marL="342900" indent="-342900">
              <a:lnSpc>
                <a:spcPct val="157575"/>
              </a:lnSpc>
              <a:buClr>
                <a:srgbClr val="D6E5EF"/>
              </a:buClr>
              <a:buSzPts val="1600"/>
              <a:buFont typeface="Helvetica"/>
              <a:buChar char="•"/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HackerNews discussions</a:t>
            </a:r>
          </a:p>
          <a:p>
            <a:pPr marL="342900" indent="-342900">
              <a:lnSpc>
                <a:spcPct val="157575"/>
              </a:lnSpc>
              <a:buClr>
                <a:srgbClr val="D6E5EF"/>
              </a:buClr>
              <a:buSzPts val="1600"/>
              <a:buFont typeface="Helvetica"/>
              <a:buChar char="•"/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TrustPilot Reviews</a:t>
            </a:r>
          </a:p>
        </p:txBody>
      </p:sp>
      <p:sp>
        <p:nvSpPr>
          <p:cNvPr id="153" name="Google Shape;133;p17"/>
          <p:cNvSpPr txBox="1"/>
          <p:nvPr/>
        </p:nvSpPr>
        <p:spPr>
          <a:xfrm>
            <a:off x="5536048" y="5603318"/>
            <a:ext cx="835199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7575"/>
              </a:lnSpc>
              <a:defRPr sz="16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Centralizes customer feedback from disparate platforms into unified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39;p18" descr="Google Shape;139;p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Google Shape;140;p18"/>
          <p:cNvSpPr txBox="1"/>
          <p:nvPr/>
        </p:nvSpPr>
        <p:spPr>
          <a:xfrm>
            <a:off x="6280189" y="1549003"/>
            <a:ext cx="6557369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NLP Processing Pipeline</a:t>
            </a:r>
          </a:p>
        </p:txBody>
      </p:sp>
      <p:pic>
        <p:nvPicPr>
          <p:cNvPr id="157" name="Google Shape;141;p18" descr="Google Shape;141;p1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0189" y="2597943"/>
            <a:ext cx="1134071" cy="1360885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Google Shape;142;p18"/>
          <p:cNvSpPr txBox="1"/>
          <p:nvPr/>
        </p:nvSpPr>
        <p:spPr>
          <a:xfrm>
            <a:off x="7641073" y="2824758"/>
            <a:ext cx="283523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Text Cleaning</a:t>
            </a:r>
          </a:p>
        </p:txBody>
      </p:sp>
      <p:sp>
        <p:nvSpPr>
          <p:cNvPr id="159" name="Google Shape;143;p18"/>
          <p:cNvSpPr txBox="1"/>
          <p:nvPr/>
        </p:nvSpPr>
        <p:spPr>
          <a:xfrm>
            <a:off x="7641073" y="3315175"/>
            <a:ext cx="619553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Remove noise, normalize text, handle special characters</a:t>
            </a:r>
          </a:p>
        </p:txBody>
      </p:sp>
      <p:pic>
        <p:nvPicPr>
          <p:cNvPr id="160" name="Google Shape;144;p18" descr="Google Shape;144;p1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80189" y="3958828"/>
            <a:ext cx="1134071" cy="1360885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Google Shape;145;p18"/>
          <p:cNvSpPr txBox="1"/>
          <p:nvPr/>
        </p:nvSpPr>
        <p:spPr>
          <a:xfrm>
            <a:off x="7641073" y="4185642"/>
            <a:ext cx="283523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Sentiment Analysis</a:t>
            </a:r>
          </a:p>
        </p:txBody>
      </p:sp>
      <p:sp>
        <p:nvSpPr>
          <p:cNvPr id="162" name="Google Shape;146;p18"/>
          <p:cNvSpPr txBox="1"/>
          <p:nvPr/>
        </p:nvSpPr>
        <p:spPr>
          <a:xfrm>
            <a:off x="7641073" y="4676061"/>
            <a:ext cx="619553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Transformer model classifies positive, negative, neutral tones</a:t>
            </a:r>
          </a:p>
        </p:txBody>
      </p:sp>
      <p:pic>
        <p:nvPicPr>
          <p:cNvPr id="163" name="Google Shape;147;p18" descr="Google Shape;147;p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80189" y="5319712"/>
            <a:ext cx="1134071" cy="1360885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Google Shape;148;p18"/>
          <p:cNvSpPr txBox="1"/>
          <p:nvPr/>
        </p:nvSpPr>
        <p:spPr>
          <a:xfrm>
            <a:off x="7641073" y="5546526"/>
            <a:ext cx="283523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Topic Extraction</a:t>
            </a:r>
          </a:p>
        </p:txBody>
      </p:sp>
      <p:sp>
        <p:nvSpPr>
          <p:cNvPr id="165" name="Google Shape;149;p18"/>
          <p:cNvSpPr txBox="1"/>
          <p:nvPr/>
        </p:nvSpPr>
        <p:spPr>
          <a:xfrm>
            <a:off x="7641073" y="6036945"/>
            <a:ext cx="619553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TF-IDF algorithm identifies recurring themes and features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55;p19"/>
          <p:cNvSpPr txBox="1"/>
          <p:nvPr/>
        </p:nvSpPr>
        <p:spPr>
          <a:xfrm>
            <a:off x="793790" y="1023341"/>
            <a:ext cx="567059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AI Insight Engine</a:t>
            </a:r>
          </a:p>
        </p:txBody>
      </p:sp>
      <p:sp>
        <p:nvSpPr>
          <p:cNvPr id="168" name="Google Shape;156;p19"/>
          <p:cNvSpPr txBox="1"/>
          <p:nvPr/>
        </p:nvSpPr>
        <p:spPr>
          <a:xfrm>
            <a:off x="793789" y="2403991"/>
            <a:ext cx="2835237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Intelligent Analysis</a:t>
            </a:r>
          </a:p>
        </p:txBody>
      </p:sp>
      <p:sp>
        <p:nvSpPr>
          <p:cNvPr id="169" name="Google Shape;157;p19"/>
          <p:cNvSpPr txBox="1"/>
          <p:nvPr/>
        </p:nvSpPr>
        <p:spPr>
          <a:xfrm>
            <a:off x="793789" y="2985135"/>
            <a:ext cx="4205170" cy="667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Generates comprehensive product intelligence reports with actionable findings:</a:t>
            </a:r>
          </a:p>
        </p:txBody>
      </p:sp>
      <p:sp>
        <p:nvSpPr>
          <p:cNvPr id="170" name="Google Shape;158;p19"/>
          <p:cNvSpPr txBox="1"/>
          <p:nvPr/>
        </p:nvSpPr>
        <p:spPr>
          <a:xfrm>
            <a:off x="793789" y="4277916"/>
            <a:ext cx="4205170" cy="14949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ct val="162857"/>
              </a:lnSpc>
              <a:buClr>
                <a:srgbClr val="D6E5EF"/>
              </a:buClr>
              <a:buSzPts val="1700"/>
              <a:buFont typeface="Helvetica"/>
              <a:buChar char="•"/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Product strengths and advantages</a:t>
            </a:r>
          </a:p>
          <a:p>
            <a:pPr marL="342900" indent="-342900">
              <a:lnSpc>
                <a:spcPct val="162857"/>
              </a:lnSpc>
              <a:buClr>
                <a:srgbClr val="D6E5EF"/>
              </a:buClr>
              <a:buSzPts val="1700"/>
              <a:buFont typeface="Helvetica"/>
              <a:buChar char="•"/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Weaknesses requiring attention</a:t>
            </a:r>
          </a:p>
          <a:p>
            <a:pPr marL="342900" indent="-342900">
              <a:lnSpc>
                <a:spcPct val="162857"/>
              </a:lnSpc>
              <a:buClr>
                <a:srgbClr val="D6E5EF"/>
              </a:buClr>
              <a:buSzPts val="1700"/>
              <a:buFont typeface="Helvetica"/>
              <a:buChar char="•"/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Features customers love</a:t>
            </a:r>
          </a:p>
          <a:p>
            <a:pPr marL="342900" indent="-342900">
              <a:lnSpc>
                <a:spcPct val="162857"/>
              </a:lnSpc>
              <a:buClr>
                <a:srgbClr val="D6E5EF"/>
              </a:buClr>
              <a:buSzPts val="1700"/>
              <a:buFont typeface="Helvetica"/>
              <a:buChar char="•"/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Improvement suggestions</a:t>
            </a:r>
          </a:p>
        </p:txBody>
      </p:sp>
      <p:sp>
        <p:nvSpPr>
          <p:cNvPr id="171" name="Google Shape;159;p19"/>
          <p:cNvSpPr txBox="1"/>
          <p:nvPr/>
        </p:nvSpPr>
        <p:spPr>
          <a:xfrm>
            <a:off x="793789" y="6171486"/>
            <a:ext cx="4205170" cy="667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Transforms raw feedback into strategic product decisions</a:t>
            </a:r>
          </a:p>
        </p:txBody>
      </p:sp>
      <p:pic>
        <p:nvPicPr>
          <p:cNvPr id="172" name="Google Shape;160;p19" descr="Google Shape;160;p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59981" y="2327433"/>
            <a:ext cx="8284131" cy="46236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66;p20" descr="Google Shape;166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Google Shape;167;p20"/>
          <p:cNvSpPr txBox="1"/>
          <p:nvPr/>
        </p:nvSpPr>
        <p:spPr>
          <a:xfrm>
            <a:off x="6280189" y="1444109"/>
            <a:ext cx="5670591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Example Output</a:t>
            </a:r>
          </a:p>
        </p:txBody>
      </p:sp>
      <p:sp>
        <p:nvSpPr>
          <p:cNvPr id="176" name="Google Shape;168;p20"/>
          <p:cNvSpPr/>
          <p:nvPr/>
        </p:nvSpPr>
        <p:spPr>
          <a:xfrm>
            <a:off x="6280189" y="2493049"/>
            <a:ext cx="3664746" cy="2395659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7" name="Google Shape;169;p20"/>
          <p:cNvSpPr txBox="1"/>
          <p:nvPr/>
        </p:nvSpPr>
        <p:spPr>
          <a:xfrm>
            <a:off x="6507004" y="2719864"/>
            <a:ext cx="304657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Sentiment Distribution</a:t>
            </a:r>
          </a:p>
        </p:txBody>
      </p:sp>
      <p:sp>
        <p:nvSpPr>
          <p:cNvPr id="178" name="Google Shape;170;p20"/>
          <p:cNvSpPr txBox="1"/>
          <p:nvPr/>
        </p:nvSpPr>
        <p:spPr>
          <a:xfrm>
            <a:off x="6507004" y="3210281"/>
            <a:ext cx="3211117" cy="1081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2857"/>
              </a:lnSpc>
              <a:defRPr b="1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68%</a:t>
            </a:r>
            <a:r>
              <a:rPr b="0"/>
              <a:t> Positive reviews</a:t>
            </a:r>
          </a:p>
          <a:p>
            <a:pPr>
              <a:lnSpc>
                <a:spcPct val="162857"/>
              </a:lnSpc>
              <a:defRPr b="1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22%</a:t>
            </a:r>
            <a:r>
              <a:rPr b="0"/>
              <a:t> Negative feedback</a:t>
            </a:r>
          </a:p>
          <a:p>
            <a:pPr>
              <a:lnSpc>
                <a:spcPct val="162857"/>
              </a:lnSpc>
              <a:defRPr b="1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10%</a:t>
            </a:r>
            <a:r>
              <a:rPr b="0"/>
              <a:t> Neutral observations</a:t>
            </a:r>
          </a:p>
        </p:txBody>
      </p:sp>
      <p:sp>
        <p:nvSpPr>
          <p:cNvPr id="179" name="Google Shape;171;p20"/>
          <p:cNvSpPr/>
          <p:nvPr/>
        </p:nvSpPr>
        <p:spPr>
          <a:xfrm>
            <a:off x="10171748" y="2493049"/>
            <a:ext cx="3664864" cy="2395659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80" name="Google Shape;172;p20"/>
          <p:cNvSpPr txBox="1"/>
          <p:nvPr/>
        </p:nvSpPr>
        <p:spPr>
          <a:xfrm>
            <a:off x="10398562" y="2719864"/>
            <a:ext cx="283523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Top Topics</a:t>
            </a:r>
          </a:p>
        </p:txBody>
      </p:sp>
      <p:sp>
        <p:nvSpPr>
          <p:cNvPr id="181" name="Google Shape;173;p20"/>
          <p:cNvSpPr txBox="1"/>
          <p:nvPr/>
        </p:nvSpPr>
        <p:spPr>
          <a:xfrm>
            <a:off x="10398562" y="3210281"/>
            <a:ext cx="3211236" cy="149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Performance, pricing, interface design, mobile compatibility, customer support responsiveness</a:t>
            </a:r>
          </a:p>
        </p:txBody>
      </p:sp>
      <p:sp>
        <p:nvSpPr>
          <p:cNvPr id="182" name="Google Shape;174;p20"/>
          <p:cNvSpPr/>
          <p:nvPr/>
        </p:nvSpPr>
        <p:spPr>
          <a:xfrm>
            <a:off x="6280189" y="5115519"/>
            <a:ext cx="7556422" cy="1669853"/>
          </a:xfrm>
          <a:prstGeom prst="roundRect">
            <a:avLst>
              <a:gd name="adj" fmla="val 2038"/>
            </a:avLst>
          </a:prstGeom>
          <a:solidFill>
            <a:srgbClr val="3F4652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83" name="Google Shape;175;p20"/>
          <p:cNvSpPr txBox="1"/>
          <p:nvPr/>
        </p:nvSpPr>
        <p:spPr>
          <a:xfrm>
            <a:off x="6507004" y="5342333"/>
            <a:ext cx="2835236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Key Complaints</a:t>
            </a:r>
          </a:p>
        </p:txBody>
      </p:sp>
      <p:sp>
        <p:nvSpPr>
          <p:cNvPr id="184" name="Google Shape;176;p20"/>
          <p:cNvSpPr txBox="1"/>
          <p:nvPr/>
        </p:nvSpPr>
        <p:spPr>
          <a:xfrm>
            <a:off x="6507004" y="5832752"/>
            <a:ext cx="7102794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Slow loading times on mobile, limited free tier features, documentation gaps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2;p21"/>
          <p:cNvSpPr txBox="1"/>
          <p:nvPr/>
        </p:nvSpPr>
        <p:spPr>
          <a:xfrm>
            <a:off x="793790" y="1126569"/>
            <a:ext cx="5670590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Business Impact</a:t>
            </a:r>
          </a:p>
        </p:txBody>
      </p:sp>
      <p:pic>
        <p:nvPicPr>
          <p:cNvPr id="187" name="Google Shape;183;p21" descr="Google Shape;183;p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3790" y="2288976"/>
            <a:ext cx="680443" cy="680443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Google Shape;184;p21"/>
          <p:cNvSpPr txBox="1"/>
          <p:nvPr/>
        </p:nvSpPr>
        <p:spPr>
          <a:xfrm>
            <a:off x="793790" y="3252906"/>
            <a:ext cx="292441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Product Improvement</a:t>
            </a:r>
          </a:p>
        </p:txBody>
      </p:sp>
      <p:sp>
        <p:nvSpPr>
          <p:cNvPr id="189" name="Google Shape;185;p21"/>
          <p:cNvSpPr txBox="1"/>
          <p:nvPr/>
        </p:nvSpPr>
        <p:spPr>
          <a:xfrm>
            <a:off x="793789" y="3743325"/>
            <a:ext cx="6379609" cy="667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Identify pain points and prioritize feature development based on real customer feedback</a:t>
            </a:r>
          </a:p>
        </p:txBody>
      </p:sp>
      <p:pic>
        <p:nvPicPr>
          <p:cNvPr id="190" name="Google Shape;186;p21" descr="Google Shape;186;p2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56884" y="2288976"/>
            <a:ext cx="680443" cy="680443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Google Shape;187;p21"/>
          <p:cNvSpPr txBox="1"/>
          <p:nvPr/>
        </p:nvSpPr>
        <p:spPr>
          <a:xfrm>
            <a:off x="7456884" y="3252906"/>
            <a:ext cx="285631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Feedback Monitoring</a:t>
            </a:r>
          </a:p>
        </p:txBody>
      </p:sp>
      <p:sp>
        <p:nvSpPr>
          <p:cNvPr id="192" name="Google Shape;188;p21"/>
          <p:cNvSpPr txBox="1"/>
          <p:nvPr/>
        </p:nvSpPr>
        <p:spPr>
          <a:xfrm>
            <a:off x="7456884" y="3743325"/>
            <a:ext cx="6379727" cy="667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Track customer sentiment trends and respond to emerging issues proactively</a:t>
            </a:r>
          </a:p>
        </p:txBody>
      </p:sp>
      <p:pic>
        <p:nvPicPr>
          <p:cNvPr id="193" name="Google Shape;189;p21" descr="Google Shape;189;p2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3790" y="4922758"/>
            <a:ext cx="680443" cy="680443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Google Shape;190;p21"/>
          <p:cNvSpPr txBox="1"/>
          <p:nvPr/>
        </p:nvSpPr>
        <p:spPr>
          <a:xfrm>
            <a:off x="793790" y="5886687"/>
            <a:ext cx="2866788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Competitive Analysis</a:t>
            </a:r>
          </a:p>
        </p:txBody>
      </p:sp>
      <p:sp>
        <p:nvSpPr>
          <p:cNvPr id="195" name="Google Shape;191;p21"/>
          <p:cNvSpPr txBox="1"/>
          <p:nvPr/>
        </p:nvSpPr>
        <p:spPr>
          <a:xfrm>
            <a:off x="793789" y="6377106"/>
            <a:ext cx="6379609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Benchmark against competitors and identify differentiation opportunities</a:t>
            </a:r>
          </a:p>
        </p:txBody>
      </p:sp>
      <p:pic>
        <p:nvPicPr>
          <p:cNvPr id="196" name="Google Shape;192;p21" descr="Google Shape;192;p2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456884" y="4922758"/>
            <a:ext cx="680443" cy="68044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Google Shape;193;p21"/>
          <p:cNvSpPr txBox="1"/>
          <p:nvPr/>
        </p:nvSpPr>
        <p:spPr>
          <a:xfrm>
            <a:off x="7456884" y="5886687"/>
            <a:ext cx="2966324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Data-Driven Decisions</a:t>
            </a:r>
          </a:p>
        </p:txBody>
      </p:sp>
      <p:sp>
        <p:nvSpPr>
          <p:cNvPr id="198" name="Google Shape;194;p21"/>
          <p:cNvSpPr txBox="1"/>
          <p:nvPr/>
        </p:nvSpPr>
        <p:spPr>
          <a:xfrm>
            <a:off x="7456884" y="6377106"/>
            <a:ext cx="6379727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Make strategic choices backed by quantitative customer intelligence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Google Shape;200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Google Shape;201;p22"/>
          <p:cNvSpPr txBox="1"/>
          <p:nvPr/>
        </p:nvSpPr>
        <p:spPr>
          <a:xfrm>
            <a:off x="793789" y="631388"/>
            <a:ext cx="5955508" cy="673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4719"/>
              </a:lnSpc>
              <a:defRPr sz="44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Future Enhancements</a:t>
            </a:r>
          </a:p>
        </p:txBody>
      </p:sp>
      <p:sp>
        <p:nvSpPr>
          <p:cNvPr id="202" name="Google Shape;202;p22"/>
          <p:cNvSpPr/>
          <p:nvPr/>
        </p:nvSpPr>
        <p:spPr>
          <a:xfrm>
            <a:off x="1048941" y="1680329"/>
            <a:ext cx="30481" cy="4426626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3" name="Google Shape;203;p22"/>
          <p:cNvSpPr/>
          <p:nvPr/>
        </p:nvSpPr>
        <p:spPr>
          <a:xfrm>
            <a:off x="1273611" y="1920239"/>
            <a:ext cx="680443" cy="30481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4" name="Google Shape;204;p22"/>
          <p:cNvSpPr/>
          <p:nvPr/>
        </p:nvSpPr>
        <p:spPr>
          <a:xfrm>
            <a:off x="793790" y="1680329"/>
            <a:ext cx="510303" cy="51030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5" name="Google Shape;205;p22"/>
          <p:cNvSpPr txBox="1"/>
          <p:nvPr/>
        </p:nvSpPr>
        <p:spPr>
          <a:xfrm>
            <a:off x="878860" y="1722833"/>
            <a:ext cx="3401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6" name="Google Shape;206;p22"/>
          <p:cNvSpPr txBox="1"/>
          <p:nvPr/>
        </p:nvSpPr>
        <p:spPr>
          <a:xfrm>
            <a:off x="2183010" y="1758195"/>
            <a:ext cx="3031689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Real-Time Dashboards</a:t>
            </a:r>
          </a:p>
        </p:txBody>
      </p:sp>
      <p:sp>
        <p:nvSpPr>
          <p:cNvPr id="207" name="Google Shape;207;p22"/>
          <p:cNvSpPr txBox="1"/>
          <p:nvPr/>
        </p:nvSpPr>
        <p:spPr>
          <a:xfrm>
            <a:off x="2183010" y="2248613"/>
            <a:ext cx="6167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Live sentiment tracking with instant alerts on emerging issues</a:t>
            </a:r>
          </a:p>
        </p:txBody>
      </p:sp>
      <p:sp>
        <p:nvSpPr>
          <p:cNvPr id="208" name="Google Shape;208;p22"/>
          <p:cNvSpPr/>
          <p:nvPr/>
        </p:nvSpPr>
        <p:spPr>
          <a:xfrm>
            <a:off x="1273611" y="3667957"/>
            <a:ext cx="680443" cy="30481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09" name="Google Shape;209;p22"/>
          <p:cNvSpPr/>
          <p:nvPr/>
        </p:nvSpPr>
        <p:spPr>
          <a:xfrm>
            <a:off x="793790" y="3428048"/>
            <a:ext cx="510303" cy="51030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10" name="Google Shape;210;p22"/>
          <p:cNvSpPr txBox="1"/>
          <p:nvPr/>
        </p:nvSpPr>
        <p:spPr>
          <a:xfrm>
            <a:off x="878860" y="3470552"/>
            <a:ext cx="3401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1" name="Google Shape;211;p22"/>
          <p:cNvSpPr txBox="1"/>
          <p:nvPr/>
        </p:nvSpPr>
        <p:spPr>
          <a:xfrm>
            <a:off x="2183010" y="3505913"/>
            <a:ext cx="3075028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Feature-Level Analysis</a:t>
            </a:r>
          </a:p>
        </p:txBody>
      </p:sp>
      <p:sp>
        <p:nvSpPr>
          <p:cNvPr id="212" name="Google Shape;212;p22"/>
          <p:cNvSpPr txBox="1"/>
          <p:nvPr/>
        </p:nvSpPr>
        <p:spPr>
          <a:xfrm>
            <a:off x="2183010" y="3996332"/>
            <a:ext cx="6167201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Granular sentiment breakdown by specific product features and components</a:t>
            </a:r>
          </a:p>
        </p:txBody>
      </p:sp>
      <p:sp>
        <p:nvSpPr>
          <p:cNvPr id="213" name="Google Shape;213;p22"/>
          <p:cNvSpPr/>
          <p:nvPr/>
        </p:nvSpPr>
        <p:spPr>
          <a:xfrm>
            <a:off x="1273611" y="5415677"/>
            <a:ext cx="680443" cy="30481"/>
          </a:xfrm>
          <a:prstGeom prst="roundRect">
            <a:avLst>
              <a:gd name="adj" fmla="val 50000"/>
            </a:avLst>
          </a:prstGeom>
          <a:solidFill>
            <a:srgbClr val="585F6B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14" name="Google Shape;214;p22"/>
          <p:cNvSpPr/>
          <p:nvPr/>
        </p:nvSpPr>
        <p:spPr>
          <a:xfrm>
            <a:off x="793790" y="5175765"/>
            <a:ext cx="510303" cy="51030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215" name="Google Shape;215;p22"/>
          <p:cNvSpPr txBox="1"/>
          <p:nvPr/>
        </p:nvSpPr>
        <p:spPr>
          <a:xfrm>
            <a:off x="878860" y="5218271"/>
            <a:ext cx="3401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6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6" name="Google Shape;216;p22"/>
          <p:cNvSpPr txBox="1"/>
          <p:nvPr/>
        </p:nvSpPr>
        <p:spPr>
          <a:xfrm>
            <a:off x="2183010" y="5253632"/>
            <a:ext cx="3501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220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pPr/>
            <a:r>
              <a:t>Advanced Topic Modeling</a:t>
            </a:r>
          </a:p>
        </p:txBody>
      </p:sp>
      <p:sp>
        <p:nvSpPr>
          <p:cNvPr id="217" name="Google Shape;217;p22"/>
          <p:cNvSpPr txBox="1"/>
          <p:nvPr/>
        </p:nvSpPr>
        <p:spPr>
          <a:xfrm>
            <a:off x="2183010" y="5744050"/>
            <a:ext cx="6167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2857"/>
              </a:lnSpc>
              <a:defRPr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pPr/>
            <a:r>
              <a:t>Deep learning approaches for more nuanced theme detection</a:t>
            </a:r>
          </a:p>
        </p:txBody>
      </p:sp>
      <p:sp>
        <p:nvSpPr>
          <p:cNvPr id="218" name="Google Shape;218;p22"/>
          <p:cNvSpPr txBox="1"/>
          <p:nvPr/>
        </p:nvSpPr>
        <p:spPr>
          <a:xfrm>
            <a:off x="1133951" y="6617255"/>
            <a:ext cx="7216259" cy="6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62857"/>
              </a:lnSpc>
              <a:defRPr b="1" sz="170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Product Intelligence AI</a:t>
            </a:r>
            <a:r>
              <a:rPr b="0"/>
              <a:t> transforms customer feedback into competitive advantage through automated analysis and strategic insights</a:t>
            </a:r>
          </a:p>
        </p:txBody>
      </p:sp>
      <p:sp>
        <p:nvSpPr>
          <p:cNvPr id="219" name="Google Shape;219;p22"/>
          <p:cNvSpPr/>
          <p:nvPr/>
        </p:nvSpPr>
        <p:spPr>
          <a:xfrm>
            <a:off x="793790" y="6362105"/>
            <a:ext cx="30481" cy="1236108"/>
          </a:xfrm>
          <a:prstGeom prst="rect">
            <a:avLst/>
          </a:prstGeom>
          <a:solidFill>
            <a:srgbClr val="66A8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